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a14cebde77403e" /><Relationship Type="http://schemas.openxmlformats.org/officeDocument/2006/relationships/extended-properties" Target="/docProps/app.xml" Id="Rab15cfd9065c4399" /><Relationship Type="http://schemas.openxmlformats.org/officeDocument/2006/relationships/officeDocument" Target="/ppt/presentation.xml" Id="R82ee3534e46d41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c189eb43244415"/>
  </p:sldMasterIdLst>
  <p:notesMasterIdLst>
    <p:notesMasterId xmlns:r="http://schemas.openxmlformats.org/officeDocument/2006/relationships" r:id="R21e535db10804f41"/>
  </p:notesMasterIdLst>
  <p:sldIdLst>
    <p:sldId xmlns:r="http://schemas.openxmlformats.org/officeDocument/2006/relationships" id="256" r:id="Rdcc082adef594427"/>
    <p:sldId xmlns:r="http://schemas.openxmlformats.org/officeDocument/2006/relationships" id="257" r:id="R60de45a838b346e7"/>
    <p:sldId xmlns:r="http://schemas.openxmlformats.org/officeDocument/2006/relationships" id="258" r:id="R769a84452d144471"/>
    <p:sldId xmlns:r="http://schemas.openxmlformats.org/officeDocument/2006/relationships" id="259" r:id="Red113dd19de3434f"/>
    <p:sldId xmlns:r="http://schemas.openxmlformats.org/officeDocument/2006/relationships" id="260" r:id="Rf5d9fe4b5fa04a9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4288cc0ffb14404" /><Relationship Type="http://schemas.openxmlformats.org/officeDocument/2006/relationships/slideMaster" Target="/ppt/slideMasters/slideMaster1.xml" Id="R1cc189eb43244415" /><Relationship Type="http://schemas.openxmlformats.org/officeDocument/2006/relationships/notesMaster" Target="/ppt/notesMasters/notesMaster1.xml" Id="R21e535db10804f41" /><Relationship Type="http://schemas.openxmlformats.org/officeDocument/2006/relationships/presProps" Target="/ppt/presProps.xml" Id="R0c632ffd95734c27" /><Relationship Type="http://schemas.openxmlformats.org/officeDocument/2006/relationships/tableStyles" Target="/ppt/tableStyles.xml" Id="Rc36e852589074ad6" /><Relationship Type="http://schemas.openxmlformats.org/officeDocument/2006/relationships/slide" Target="/ppt/slides/slide1.xml" Id="Rdcc082adef594427" /><Relationship Type="http://schemas.openxmlformats.org/officeDocument/2006/relationships/slide" Target="/ppt/slides/slide2.xml" Id="R60de45a838b346e7" /><Relationship Type="http://schemas.openxmlformats.org/officeDocument/2006/relationships/slide" Target="/ppt/slides/slide3.xml" Id="R769a84452d144471" /><Relationship Type="http://schemas.openxmlformats.org/officeDocument/2006/relationships/slide" Target="/ppt/slides/slide4.xml" Id="Red113dd19de3434f" /><Relationship Type="http://schemas.openxmlformats.org/officeDocument/2006/relationships/slide" Target="/ppt/slides/slide5.xml" Id="Rf5d9fe4b5fa04a9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26ff10a127343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8f9789ac2340b8" /><Relationship Type="http://schemas.openxmlformats.org/officeDocument/2006/relationships/notesMaster" Target="/ppt/notesMasters/notesMaster1.xml" Id="Rf353dd691264408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eb49719759b4ee2" /><Relationship Type="http://schemas.openxmlformats.org/officeDocument/2006/relationships/notesMaster" Target="/ppt/notesMasters/notesMaster1.xml" Id="R37d019291e1d436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eedf8eee9924fd0" /><Relationship Type="http://schemas.openxmlformats.org/officeDocument/2006/relationships/notesMaster" Target="/ppt/notesMasters/notesMaster1.xml" Id="R0c4517a5cc43450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2cfc89832cd48b5" /><Relationship Type="http://schemas.openxmlformats.org/officeDocument/2006/relationships/notesMaster" Target="/ppt/notesMasters/notesMaster1.xml" Id="Rd1efce8825694eb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35c2f231718444e" /><Relationship Type="http://schemas.openxmlformats.org/officeDocument/2006/relationships/notesMaster" Target="/ppt/notesMasters/notesMaster1.xml" Id="R31839d3e5558420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Ich uebernehme jetzt den konkreten Umsetzungsteil. Wichtig ist: Wir haben nicht nur ein paar Variablen ergaenzt, sondern die Pipeline in drei Bereichen umgebaut.</a:t>
            </a:r>
          </a:p>
          <a:p xmlns:a="http://schemas.openxmlformats.org/drawingml/2006/main">
            <a:r>
              <a:t>Erstens die Daten: Bundesliga statt Premier League 1997/98, dazu Closing Odds, echtes Understat-xG und Marktwerte vor Saisonstart.</a:t>
            </a:r>
          </a:p>
          <a:p xmlns:a="http://schemas.openxmlformats.org/drawingml/2006/main">
            <a:r>
              <a:t>Zweitens das Modell: Die Rue-Salvesen-Struktur mit Attack/Defense ueber Zeit bleibt, aber das beobachtete Signal im Fit wird moderner.</a:t>
            </a:r>
          </a:p>
          <a:p xmlns:a="http://schemas.openxmlformats.org/drawingml/2006/main">
            <a:r>
              <a:t>Drittens die Evaluation: Der zentrale Umbau ist Walk-forward. Damit trennen wir retrospektive Analyse von echter Vorhersage.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Das ist der wichtigste methodische Punkt. In der ersten Version sah es so aus, als wuerden wir Buchmacher schlagen. Dann haben wir den Vergleich auditiert.</a:t>
            </a:r>
          </a:p>
          <a:p xmlns:a="http://schemas.openxmlformats.org/drawingml/2006/main">
            <a:r>
              <a:t>Das Hauptproblem war Smoothing: Wenn ich eine ganze Saison fitten lasse, beeinflussen spaetere Spiele die Teamstaerke an frueheren Spieltagen. Das ist fuer Retrospektive okay, aber fuer Prediction ein Leak.</a:t>
            </a:r>
          </a:p>
          <a:p xmlns:a="http://schemas.openxmlformats.org/drawingml/2006/main">
            <a:r>
              <a:t>In backtest.py fitten wir deshalb fuer jeden Holdout-Spieltag nur auf Spiele vor diesem Datum, starten den naechsten Refit warm und bewerten alle Modelle auf exakt denselben Spielen mit RPS.</a:t>
            </a:r>
          </a:p>
          <a:p xmlns:a="http://schemas.openxmlformats.org/drawingml/2006/main">
            <a:r>
              <a:t>Das macht die Ergebnisse weniger spektakulaer, aber viel glaubwuerdiger.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Der zweite konkrete Umbau ist das Beobachtungsmodell. Das latente Modell bleibt Rue und Salvesen: Angriff und Abwehr eines Teams entwickeln sich ueber die Zeit und erzeugen eine Torintensitaet lambda.</a:t>
            </a:r>
          </a:p>
          <a:p xmlns:a="http://schemas.openxmlformats.org/drawingml/2006/main">
            <a:r>
              <a:t>Im Original wird aber direkt auf Tore gefittet. Wir haben zunaechst xG benutzt, aber gemerkt: gerundetes xG in einer Poisson-Likelihood ist unbefriedigend.</a:t>
            </a:r>
          </a:p>
          <a:p xmlns:a="http://schemas.openxmlformats.org/drawingml/2006/main">
            <a:r>
              <a:t>Deshalb behandeln wir xG als kontinuierliche Messung der Intensitaet lambda. Im MCMC-Kern ist das die Gamma-Likelihood. phi ist dabei eine Praezision: je groesser phi, desto staerker vertraut das Modell dem xG.</a:t>
            </a:r>
          </a:p>
          <a:p xmlns:a="http://schemas.openxmlformats.org/drawingml/2006/main">
            <a:r>
              <a:t>Wichtig: Die Vorhersage bleibt diskret. Am Ende berechnen wir weiter P(Heimsieg/Unentschieden/Auswaertssieg) ueber ein Poisson-Torgitter.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Jetzt zu den Ergebnissen. Bewertet wird mit RPS, also einer proper scoring rule fuer drei geordnete Outcomes: Heimsieg, Remis, Auswaertssieg. Niedriger ist besser.</a:t>
            </a:r>
          </a:p>
          <a:p xmlns:a="http://schemas.openxmlformats.org/drawingml/2006/main">
            <a:r>
              <a:t>Gegenueber dem unveraenderten Paper-Standardmodell ist der Effekt klar: v2 hat im Schnitt 0.2030 RPS, das Paper 0.2108.</a:t>
            </a:r>
          </a:p>
          <a:p xmlns:a="http://schemas.openxmlformats.org/drawingml/2006/main">
            <a:r>
              <a:t>Die gepaarte Differenz Paper minus v2 ist +0.0078 RPS, also rund 3.7 Prozent relativ. Das 95-Prozent-Bootstrap-Intervall liegt komplett ueber Null, und der Wilcoxon-Test ist sehr deutlich.</a:t>
            </a:r>
          </a:p>
          <a:p xmlns:a="http://schemas.openxmlformats.org/drawingml/2006/main">
            <a:r>
              <a:t>Das ist die saubere Antwort auf die Aufgabenstellung: Unsere Verbesserungen bringen gegenueber dem nachgebauten Paper-Modell messbar etwas.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Die zweite Ergebnisfolie ist die ehrliche Einordnung gegen Buchmacher. Links in gruen sieht man v2 versus Bookmaker: positive Werte waeren gut fuer uns, negative Werte gut fuer die Buchmacher.</a:t>
            </a:r>
          </a:p>
          <a:p xmlns:a="http://schemas.openxmlformats.org/drawingml/2006/main">
            <a:r>
              <a:t>Gepoolt liegt die Differenz bei -0.0036 RPS, also leicht zugunsten der Buchmacher. Das Bootstrap-CI beruehrt Null knapp, aber wir sollten daraus keinesfalls einen Markt-Edge claimen.</a:t>
            </a:r>
          </a:p>
          <a:p xmlns:a="http://schemas.openxmlformats.org/drawingml/2006/main">
            <a:r>
              <a:t>Rechts sieht man dagegen v2 versus Paper-Baseline: dort ist der gepoolte Effekt klar positiv. Das ist die starke Botschaft.</a:t>
            </a:r>
          </a:p>
          <a:p xmlns:a="http://schemas.openxmlformats.org/drawingml/2006/main">
            <a:r>
              <a:t>Mein Fazit waere: Wir haben das Originalmodell signifikant verbessert und gleichzeitig gezeigt, dass ein fairer Vergleich mit Closing Odds extrem schwer ist. Genau das ist fuer probabilistisches Modellieren eigentlich ein gutes Ergebnis.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beadd3b458408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3de5ffec1546ef" /><Relationship Type="http://schemas.openxmlformats.org/officeDocument/2006/relationships/slideLayout" Target="/ppt/slideLayouts/slideLayout1.xml" Id="Rf149dcc6ddc8412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49dcc6ddc8412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f1cb930cd9464a" /><Relationship Type="http://schemas.openxmlformats.org/officeDocument/2006/relationships/notesSlide" Target="/ppt/notesSlides/notesSlide1.xml" Id="Rf51dfa7cfa5a4d4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4a95b26fa94bc1" /><Relationship Type="http://schemas.openxmlformats.org/officeDocument/2006/relationships/notesSlide" Target="/ppt/notesSlides/notesSlide2.xml" Id="R16f05dfcb98944c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44974bf0044c39" /><Relationship Type="http://schemas.openxmlformats.org/officeDocument/2006/relationships/notesSlide" Target="/ppt/notesSlides/notesSlide3.xml" Id="R15844ac5e4c2467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bc627dbe6140af" /><Relationship Type="http://schemas.openxmlformats.org/officeDocument/2006/relationships/chart" Target="/ppt/slides/charts/chart1.xml" Id="R7aa0cddb205b45f1" /><Relationship Type="http://schemas.openxmlformats.org/officeDocument/2006/relationships/notesSlide" Target="/ppt/notesSlides/notesSlide4.xml" Id="R2792e0febe3d472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23575740594d63" /><Relationship Type="http://schemas.openxmlformats.org/officeDocument/2006/relationships/notesSlide" Target="/ppt/notesSlides/notesSlide5.xml" Id="R13bbd3552c0942be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bar"/>
        <c:grouping val="clustered"/>
        <c:varyColors val="0"/>
        <c:ser>
          <c:idx val="0"/>
          <c:order val="0"/>
          <c:tx>
            <c:v>Mean RPS</c:v>
          </c:tx>
          <c:spPr>
            <a:solidFill xmlns:a="http://schemas.openxmlformats.org/drawingml/2006/main">
              <a:srgbClr val="2F80B7"/>
            </a:solidFill>
          </c:spPr>
          <c:dPt>
            <c:idx val="0"/>
            <c:spPr>
              <a:solidFill xmlns:a="http://schemas.openxmlformats.org/drawingml/2006/main">
                <a:srgbClr val="D93A3A"/>
              </a:solidFill>
            </c:spPr>
          </c:dPt>
          <c:dPt>
            <c:idx val="1"/>
            <c:spPr>
              <a:solidFill xmlns:a="http://schemas.openxmlformats.org/drawingml/2006/main">
                <a:srgbClr val="2F80B7"/>
              </a:solidFill>
            </c:spPr>
          </c:dPt>
          <c:dPt>
            <c:idx val="2"/>
            <c:spPr>
              <a:solidFill xmlns:a="http://schemas.openxmlformats.org/drawingml/2006/main">
                <a:srgbClr val="F28E2B"/>
              </a:solidFill>
            </c:spPr>
          </c:dPt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Bookmaker</c:v>
              </c:pt>
              <c:pt idx="1">
                <c:v>v2</c:v>
              </c:pt>
              <c:pt idx="2">
                <c:v>Paper</c:v>
              </c:pt>
            </c:strLit>
          </c:cat>
          <c:val>
            <c:numLit>
              <c:formatCode>0.000</c:formatCode>
              <c:ptCount val="3"/>
              <c:pt idx="0">
                <c:v>0.1994211081</c:v>
              </c:pt>
              <c:pt idx="1">
                <c:v>0.2029831411</c:v>
              </c:pt>
              <c:pt idx="2">
                <c:v>0.2107888524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D6D6"/>
              </a:solidFill>
              <a:prstDash val="solid"/>
            </a:ln>
          </c:spPr>
        </c:majorGridlines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F6368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6D6D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22222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000000">
            <a:alpha val="0"/>
          </a:srgbClr>
        </a:solidFill>
      </c:spPr>
    </c:plotArea>
    <c:plotVisOnly val="1"/>
  </c:chart>
  <c:spPr>
    <a:solidFill xmlns:a="http://schemas.openxmlformats.org/drawingml/2006/main">
      <a:srgbClr val="000000">
        <a:alpha val="0"/>
      </a:srgbClr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266958EF-1678-4B70-AE42-E40F55995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Julian - Implementation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34B095C-76AE-4D06-B559-4B998523E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25" b="1">
                <a:solidFill>
                  <a:srgbClr val="000000"/>
                </a:solidFill>
              </a:defRPr>
            </a:pPr>
            <a:r>
              <a:rPr sz="3225" b="1">
                <a:solidFill>
                  <a:srgbClr val="000000"/>
                </a:solidFill>
              </a:rPr>
              <a:t>Was wurde konkret umgesetzt?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5EC976-1B74-4EC4-8C58-EEF79C00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aten-head">
            <a:extLst xmlns:a="http://schemas.openxmlformats.org/drawingml/2006/main">
              <a:ext uri="{FF2B5EF4-FFF2-40B4-BE49-F238E27FC236}">
                <a16:creationId xmlns:a16="http://schemas.microsoft.com/office/drawing/2014/main" id="{D79748CA-7DFE-404B-A1D6-A38ED7EF8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325" b="1">
                <a:solidFill>
                  <a:srgbClr val="000000"/>
                </a:solidFill>
              </a:defRPr>
            </a:pPr>
            <a:r>
              <a:rPr sz="2325" b="1">
                <a:solidFill>
                  <a:srgbClr val="000000"/>
                </a:solidFill>
              </a:rPr>
              <a:t>Daten</a:t>
            </a:r>
          </a:p>
        </p:txBody>
      </p:sp>
      <p:sp>
        <p:nvSpPr>
          <p:cNvPr id="5" name="Daten-body">
            <a:extLst xmlns:a="http://schemas.openxmlformats.org/drawingml/2006/main">
              <a:ext uri="{FF2B5EF4-FFF2-40B4-BE49-F238E27FC236}">
                <a16:creationId xmlns:a16="http://schemas.microsoft.com/office/drawing/2014/main" id="{21758F93-DC04-4C77-9012-B5792BC33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33650"/>
            <a:ext cx="33528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00">
                <a:solidFill>
                  <a:srgbClr val="222222"/>
                </a:solidFill>
              </a:defRPr>
            </a:pPr>
            <a:r>
              <a:rPr sz="1800">
                <a:solidFill>
                  <a:srgbClr val="222222"/>
                </a:solidFill>
              </a:rPr>
              <a:t>Bundesliga 2000-2026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800">
                <a:solidFill>
                  <a:srgbClr val="222222"/>
                </a:solidFill>
              </a:defRPr>
            </a:pPr>
            <a:r>
              <a:rPr sz="1800">
                <a:solidFill>
                  <a:srgbClr val="222222"/>
                </a:solidFill>
              </a:rPr>
              <a:t>Closing Odds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800">
                <a:solidFill>
                  <a:srgbClr val="222222"/>
                </a:solidFill>
              </a:defRPr>
            </a:pPr>
            <a:r>
              <a:rPr sz="1800">
                <a:solidFill>
                  <a:srgbClr val="222222"/>
                </a:solidFill>
              </a:rPr>
              <a:t>Understat-xG ab 2014/15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800">
                <a:solidFill>
                  <a:srgbClr val="222222"/>
                </a:solidFill>
              </a:defRPr>
            </a:pPr>
            <a:r>
              <a:rPr sz="1800">
                <a:solidFill>
                  <a:srgbClr val="222222"/>
                </a:solidFill>
              </a:rPr>
              <a:t>Transfermarkt-Prior vor Saisonstart</a:t>
            </a:r>
          </a:p>
        </p:txBody>
      </p:sp>
      <p:sp>
        <p:nvSpPr>
          <p:cNvPr id="6" name="Daten-file-panel">
            <a:extLst xmlns:a="http://schemas.openxmlformats.org/drawingml/2006/main">
              <a:ext uri="{FF2B5EF4-FFF2-40B4-BE49-F238E27FC236}">
                <a16:creationId xmlns:a16="http://schemas.microsoft.com/office/drawing/2014/main" id="{4993558F-A223-4B1A-8BFE-8D3340F76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0125"/>
            <a:ext cx="3352800" cy="762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aten-files">
            <a:extLst xmlns:a="http://schemas.openxmlformats.org/drawingml/2006/main">
              <a:ext uri="{FF2B5EF4-FFF2-40B4-BE49-F238E27FC236}">
                <a16:creationId xmlns:a16="http://schemas.microsoft.com/office/drawing/2014/main" id="{588E1F99-470B-4045-8DC7-0B166AE7F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10150"/>
            <a:ext cx="300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>
                <a:solidFill>
                  <a:srgbClr val="5F6368"/>
                </a:solidFill>
              </a:defRPr>
            </a:pPr>
            <a:r>
              <a:rPr sz="1200">
                <a:solidFill>
                  <a:srgbClr val="5F6368"/>
                </a:solidFill>
              </a:rPr>
              <a:t>data.py, xg.py, real_xg.py, market_value.py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F8537A-08EE-421A-80B2-85635A20F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6192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odell-head">
            <a:extLst xmlns:a="http://schemas.openxmlformats.org/drawingml/2006/main">
              <a:ext uri="{FF2B5EF4-FFF2-40B4-BE49-F238E27FC236}">
                <a16:creationId xmlns:a16="http://schemas.microsoft.com/office/drawing/2014/main" id="{C0BE39ED-636C-4CA8-9F9F-C4F0B637A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96215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325" b="1">
                <a:solidFill>
                  <a:srgbClr val="000000"/>
                </a:solidFill>
              </a:defRPr>
            </a:pPr>
            <a:r>
              <a:rPr sz="2325" b="1">
                <a:solidFill>
                  <a:srgbClr val="000000"/>
                </a:solidFill>
              </a:rPr>
              <a:t>Modell</a:t>
            </a:r>
          </a:p>
        </p:txBody>
      </p:sp>
      <p:sp>
        <p:nvSpPr>
          <p:cNvPr id="10" name="Modell-body">
            <a:extLst xmlns:a="http://schemas.openxmlformats.org/drawingml/2006/main">
              <a:ext uri="{FF2B5EF4-FFF2-40B4-BE49-F238E27FC236}">
                <a16:creationId xmlns:a16="http://schemas.microsoft.com/office/drawing/2014/main" id="{337E9ECC-E7A6-42EF-9028-882BF050E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33650"/>
            <a:ext cx="33528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00">
                <a:solidFill>
                  <a:srgbClr val="222222"/>
                </a:solidFill>
              </a:defRPr>
            </a:pPr>
            <a:r>
              <a:rPr sz="1800">
                <a:solidFill>
                  <a:srgbClr val="222222"/>
                </a:solidFill>
              </a:rPr>
              <a:t>Paper-Struktur bleibt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800">
                <a:solidFill>
                  <a:srgbClr val="222222"/>
                </a:solidFill>
              </a:defRPr>
            </a:pPr>
            <a:r>
              <a:rPr sz="1800">
                <a:solidFill>
                  <a:srgbClr val="222222"/>
                </a:solidFill>
              </a:rPr>
              <a:t>xG als kontinuierliche Messung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800">
                <a:solidFill>
                  <a:srgbClr val="222222"/>
                </a:solidFill>
              </a:defRPr>
            </a:pPr>
            <a:r>
              <a:rPr sz="1800">
                <a:solidFill>
                  <a:srgbClr val="222222"/>
                </a:solidFill>
              </a:rPr>
              <a:t>Gamma-Likelihood im Fit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800">
                <a:solidFill>
                  <a:srgbClr val="222222"/>
                </a:solidFill>
              </a:defRPr>
            </a:pPr>
            <a:r>
              <a:rPr sz="1800">
                <a:solidFill>
                  <a:srgbClr val="222222"/>
                </a:solidFill>
              </a:rPr>
              <a:t>Diskrete W/D/L-Vorhersage bleibt</a:t>
            </a:r>
          </a:p>
        </p:txBody>
      </p:sp>
      <p:sp>
        <p:nvSpPr>
          <p:cNvPr id="11" name="Modell-file-panel">
            <a:extLst xmlns:a="http://schemas.openxmlformats.org/drawingml/2006/main">
              <a:ext uri="{FF2B5EF4-FFF2-40B4-BE49-F238E27FC236}">
                <a16:creationId xmlns:a16="http://schemas.microsoft.com/office/drawing/2014/main" id="{B2DDAB84-7A35-4F7C-964B-5E662B33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810125"/>
            <a:ext cx="3352800" cy="762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odell-files">
            <a:extLst xmlns:a="http://schemas.openxmlformats.org/drawingml/2006/main">
              <a:ext uri="{FF2B5EF4-FFF2-40B4-BE49-F238E27FC236}">
                <a16:creationId xmlns:a16="http://schemas.microsoft.com/office/drawing/2014/main" id="{155BAD2C-510D-4D1D-9455-53C4005F8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5010150"/>
            <a:ext cx="300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>
                <a:solidFill>
                  <a:srgbClr val="5F6368"/>
                </a:solidFill>
              </a:defRPr>
            </a:pPr>
            <a:r>
              <a:rPr sz="1200">
                <a:solidFill>
                  <a:srgbClr val="5F6368"/>
                </a:solidFill>
              </a:rPr>
              <a:t>model.py, mcmc.py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9EFA93-457C-48B1-B00C-F831D5053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192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0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Evaluation-head">
            <a:extLst xmlns:a="http://schemas.openxmlformats.org/drawingml/2006/main">
              <a:ext uri="{FF2B5EF4-FFF2-40B4-BE49-F238E27FC236}">
                <a16:creationId xmlns:a16="http://schemas.microsoft.com/office/drawing/2014/main" id="{2797AA15-62DD-46F2-A91A-6735BFB78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6215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325" b="1">
                <a:solidFill>
                  <a:srgbClr val="000000"/>
                </a:solidFill>
              </a:defRPr>
            </a:pPr>
            <a:r>
              <a:rPr sz="2325" b="1">
                <a:solidFill>
                  <a:srgbClr val="000000"/>
                </a:solidFill>
              </a:rPr>
              <a:t>Evaluation</a:t>
            </a:r>
          </a:p>
        </p:txBody>
      </p:sp>
      <p:sp>
        <p:nvSpPr>
          <p:cNvPr id="15" name="Evaluation-body">
            <a:extLst xmlns:a="http://schemas.openxmlformats.org/drawingml/2006/main">
              <a:ext uri="{FF2B5EF4-FFF2-40B4-BE49-F238E27FC236}">
                <a16:creationId xmlns:a16="http://schemas.microsoft.com/office/drawing/2014/main" id="{82E13C4D-CD40-42FA-B0AE-68A32AC59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33650"/>
            <a:ext cx="33528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00">
                <a:solidFill>
                  <a:srgbClr val="222222"/>
                </a:solidFill>
              </a:defRPr>
            </a:pPr>
            <a:r>
              <a:rPr sz="1800">
                <a:solidFill>
                  <a:srgbClr val="222222"/>
                </a:solidFill>
              </a:rPr>
              <a:t>Walk-forward statt Smoothing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800">
                <a:solidFill>
                  <a:srgbClr val="222222"/>
                </a:solidFill>
              </a:defRPr>
            </a:pPr>
            <a:r>
              <a:rPr sz="1800">
                <a:solidFill>
                  <a:srgbClr val="222222"/>
                </a:solidFill>
              </a:rPr>
              <a:t>Warm-start Refit pro Spieltag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800">
                <a:solidFill>
                  <a:srgbClr val="222222"/>
                </a:solidFill>
              </a:defRPr>
            </a:pPr>
            <a:r>
              <a:rPr sz="1800">
                <a:solidFill>
                  <a:srgbClr val="222222"/>
                </a:solidFill>
              </a:rPr>
              <a:t>4 MCMC-Ketten + R-hat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800">
                <a:solidFill>
                  <a:srgbClr val="222222"/>
                </a:solidFill>
              </a:defRPr>
            </a:pPr>
            <a:r>
              <a:rPr sz="1800">
                <a:solidFill>
                  <a:srgbClr val="222222"/>
                </a:solidFill>
              </a:rPr>
              <a:t>gepaarte Multi-Season-Tests</a:t>
            </a:r>
          </a:p>
        </p:txBody>
      </p:sp>
      <p:sp>
        <p:nvSpPr>
          <p:cNvPr id="16" name="Evaluation-file-panel">
            <a:extLst xmlns:a="http://schemas.openxmlformats.org/drawingml/2006/main">
              <a:ext uri="{FF2B5EF4-FFF2-40B4-BE49-F238E27FC236}">
                <a16:creationId xmlns:a16="http://schemas.microsoft.com/office/drawing/2014/main" id="{D63485C5-B496-4AC3-B252-E0B946B14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10125"/>
            <a:ext cx="3352800" cy="762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Evaluation-files">
            <a:extLst xmlns:a="http://schemas.openxmlformats.org/drawingml/2006/main">
              <a:ext uri="{FF2B5EF4-FFF2-40B4-BE49-F238E27FC236}">
                <a16:creationId xmlns:a16="http://schemas.microsoft.com/office/drawing/2014/main" id="{F9A20AC6-B7F9-4BAF-86C4-37FC05A30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010150"/>
            <a:ext cx="300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>
                <a:solidFill>
                  <a:srgbClr val="5F6368"/>
                </a:solidFill>
              </a:defRPr>
            </a:pPr>
            <a:r>
              <a:rPr sz="1200">
                <a:solidFill>
                  <a:srgbClr val="5F6368"/>
                </a:solidFill>
              </a:rPr>
              <a:t>backtest.py, backtest_multiseason.py</a:t>
            </a:r>
          </a:p>
        </p:txBody>
      </p:sp>
      <p:sp>
        <p:nvSpPr>
          <p:cNvPr id="18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E146D704-6FC2-4B9D-B481-F8680BBD5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38">
                <a:solidFill>
                  <a:srgbClr val="5F6368"/>
                </a:solidFill>
              </a:defRPr>
            </a:pPr>
            <a:r>
              <a:rPr sz="938">
                <a:solidFill>
                  <a:srgbClr val="5F6368"/>
                </a:solidFill>
              </a:rPr>
              <a:t>Quelle: Projektcode v2 und Rue &amp; Salvesen (2000)</a:t>
            </a:r>
          </a:p>
        </p:txBody>
      </p:sp>
      <p:sp>
        <p:nvSpPr>
          <p:cNvPr id="19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FB2050D8-BD37-49E1-AFFF-E5080BC7A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3436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38">
                <a:solidFill>
                  <a:srgbClr val="5F6368"/>
                </a:solidFill>
              </a:defRPr>
            </a:pPr>
            <a:r>
              <a:rPr sz="938">
                <a:solidFill>
                  <a:srgbClr val="5F6368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5705863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D022FB6F-FF94-4367-82F7-AEC85AA86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Leak-freier Backtest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84B3ECE-6566-4C4F-82A8-EE2C1F059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25" b="1">
                <a:solidFill>
                  <a:srgbClr val="000000"/>
                </a:solidFill>
              </a:defRPr>
            </a:pPr>
            <a:r>
              <a:rPr sz="3225" b="1">
                <a:solidFill>
                  <a:srgbClr val="000000"/>
                </a:solidFill>
              </a:rPr>
              <a:t>Retrospektive ist keine Vorhersage</a:t>
            </a:r>
          </a:p>
        </p:txBody>
      </p:sp>
      <p:sp>
        <p:nvSpPr>
          <p:cNvPr id="3" name="Alter Vergleich-panel">
            <a:extLst xmlns:a="http://schemas.openxmlformats.org/drawingml/2006/main">
              <a:ext uri="{FF2B5EF4-FFF2-40B4-BE49-F238E27FC236}">
                <a16:creationId xmlns:a16="http://schemas.microsoft.com/office/drawing/2014/main" id="{1EC05872-93F4-43D4-A223-CC488EF26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2619375" cy="238125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83A983-ECB0-4E04-ABDF-D9A145C56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52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lter Vergleich-title">
            <a:extLst xmlns:a="http://schemas.openxmlformats.org/drawingml/2006/main">
              <a:ext uri="{FF2B5EF4-FFF2-40B4-BE49-F238E27FC236}">
                <a16:creationId xmlns:a16="http://schemas.microsoft.com/office/drawing/2014/main" id="{4D39637B-1030-400E-9D2B-C0F1D90EF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2162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Alter Vergleich</a:t>
            </a:r>
          </a:p>
        </p:txBody>
      </p:sp>
      <p:sp>
        <p:nvSpPr>
          <p:cNvPr id="6" name="Alter Vergleich-body">
            <a:extLst xmlns:a="http://schemas.openxmlformats.org/drawingml/2006/main">
              <a:ext uri="{FF2B5EF4-FFF2-40B4-BE49-F238E27FC236}">
                <a16:creationId xmlns:a16="http://schemas.microsoft.com/office/drawing/2014/main" id="{98A42DCF-765B-4D09-9E0E-CCD011DC4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90850"/>
            <a:ext cx="2162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500">
                <a:solidFill>
                  <a:srgbClr val="222222"/>
                </a:solidFill>
              </a:defRPr>
            </a:pPr>
            <a:r>
              <a:rPr sz="1500">
                <a:solidFill>
                  <a:srgbClr val="222222"/>
                </a:solidFill>
              </a:rPr>
              <a:t>Fit auf ganzer Saison</a:t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1500">
                <a:solidFill>
                  <a:srgbClr val="222222"/>
                </a:solidFill>
              </a:defRPr>
            </a:pPr>
            <a:r>
              <a:rPr sz="1500">
                <a:solidFill>
                  <a:srgbClr val="222222"/>
                </a:solidFill>
              </a:rPr>
              <a:t>Posterior kennt Zukunft</a:t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1500">
                <a:solidFill>
                  <a:srgbClr val="222222"/>
                </a:solidFill>
              </a:defRPr>
            </a:pPr>
            <a:r>
              <a:rPr sz="1500">
                <a:solidFill>
                  <a:srgbClr val="222222"/>
                </a:solidFill>
              </a:rPr>
              <a:t>scheinbar +4% vs Buchmacher</a:t>
            </a:r>
          </a:p>
        </p:txBody>
      </p:sp>
      <p:sp>
        <p:nvSpPr>
          <p:cNvPr id="7" name="Leak-Audit-panel">
            <a:extLst xmlns:a="http://schemas.openxmlformats.org/drawingml/2006/main">
              <a:ext uri="{FF2B5EF4-FFF2-40B4-BE49-F238E27FC236}">
                <a16:creationId xmlns:a16="http://schemas.microsoft.com/office/drawing/2014/main" id="{FFBF5B28-9EF2-49C1-B4CF-F3A9BD1EB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885950"/>
            <a:ext cx="2619375" cy="238125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B80CD4-9F65-4C9A-A709-C327970CA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152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Leak-Audit-title">
            <a:extLst xmlns:a="http://schemas.openxmlformats.org/drawingml/2006/main">
              <a:ext uri="{FF2B5EF4-FFF2-40B4-BE49-F238E27FC236}">
                <a16:creationId xmlns:a16="http://schemas.microsoft.com/office/drawing/2014/main" id="{CC11D516-76D9-4ABF-9CD9-EB7432635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476500"/>
            <a:ext cx="2162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Leak-Audit</a:t>
            </a:r>
          </a:p>
        </p:txBody>
      </p:sp>
      <p:sp>
        <p:nvSpPr>
          <p:cNvPr id="10" name="Leak-Audit-body">
            <a:extLst xmlns:a="http://schemas.openxmlformats.org/drawingml/2006/main">
              <a:ext uri="{FF2B5EF4-FFF2-40B4-BE49-F238E27FC236}">
                <a16:creationId xmlns:a16="http://schemas.microsoft.com/office/drawing/2014/main" id="{CDBD5C95-BF3E-43C0-A169-2E89071D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990850"/>
            <a:ext cx="2162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500">
                <a:solidFill>
                  <a:srgbClr val="222222"/>
                </a:solidFill>
              </a:defRPr>
            </a:pPr>
            <a:r>
              <a:rPr sz="1500">
                <a:solidFill>
                  <a:srgbClr val="222222"/>
                </a:solidFill>
              </a:rPr>
              <a:t>Smoothing-Leak</a:t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1500">
                <a:solidFill>
                  <a:srgbClr val="222222"/>
                </a:solidFill>
              </a:defRPr>
            </a:pPr>
            <a:r>
              <a:rPr sz="1500">
                <a:solidFill>
                  <a:srgbClr val="222222"/>
                </a:solidFill>
              </a:rPr>
              <a:t>xG-beta auf Holdout</a:t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1500">
                <a:solidFill>
                  <a:srgbClr val="222222"/>
                </a:solidFill>
              </a:defRPr>
            </a:pPr>
            <a:r>
              <a:rPr sz="1500">
                <a:solidFill>
                  <a:srgbClr val="222222"/>
                </a:solidFill>
              </a:rPr>
              <a:t>c_x/c_y auf Vollsaison</a:t>
            </a:r>
          </a:p>
        </p:txBody>
      </p:sp>
      <p:sp>
        <p:nvSpPr>
          <p:cNvPr id="11" name="Walk-forward-panel">
            <a:extLst xmlns:a="http://schemas.openxmlformats.org/drawingml/2006/main">
              <a:ext uri="{FF2B5EF4-FFF2-40B4-BE49-F238E27FC236}">
                <a16:creationId xmlns:a16="http://schemas.microsoft.com/office/drawing/2014/main" id="{398954F5-A308-435C-A278-7089EC8DF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85950"/>
            <a:ext cx="2619375" cy="238125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C99D62-9A17-492D-A018-99E58B9F3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152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0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Walk-forward-title">
            <a:extLst xmlns:a="http://schemas.openxmlformats.org/drawingml/2006/main">
              <a:ext uri="{FF2B5EF4-FFF2-40B4-BE49-F238E27FC236}">
                <a16:creationId xmlns:a16="http://schemas.microsoft.com/office/drawing/2014/main" id="{2C4C47D8-3A13-4C66-BE3D-4152904FC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476500"/>
            <a:ext cx="2162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Walk-forward</a:t>
            </a:r>
          </a:p>
        </p:txBody>
      </p:sp>
      <p:sp>
        <p:nvSpPr>
          <p:cNvPr id="14" name="Walk-forward-body">
            <a:extLst xmlns:a="http://schemas.openxmlformats.org/drawingml/2006/main">
              <a:ext uri="{FF2B5EF4-FFF2-40B4-BE49-F238E27FC236}">
                <a16:creationId xmlns:a16="http://schemas.microsoft.com/office/drawing/2014/main" id="{0CF749BC-FE22-4D58-82A6-2058EAB95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90850"/>
            <a:ext cx="2162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500">
                <a:solidFill>
                  <a:srgbClr val="222222"/>
                </a:solidFill>
              </a:defRPr>
            </a:pPr>
            <a:r>
              <a:rPr sz="1500">
                <a:solidFill>
                  <a:srgbClr val="222222"/>
                </a:solidFill>
              </a:rPr>
              <a:t>Trainiere nur Datum &lt; d</a:t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1500">
                <a:solidFill>
                  <a:srgbClr val="222222"/>
                </a:solidFill>
              </a:defRPr>
            </a:pPr>
            <a:r>
              <a:rPr sz="1500">
                <a:solidFill>
                  <a:srgbClr val="222222"/>
                </a:solidFill>
              </a:rPr>
              <a:t>Vorhersage Spieltag d</a:t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1500">
                <a:solidFill>
                  <a:srgbClr val="222222"/>
                </a:solidFill>
              </a:defRPr>
            </a:pPr>
            <a:r>
              <a:rPr sz="1500">
                <a:solidFill>
                  <a:srgbClr val="222222"/>
                </a:solidFill>
              </a:rPr>
              <a:t>Score auf gleichem Holdout</a:t>
            </a:r>
          </a:p>
        </p:txBody>
      </p:sp>
      <p:sp>
        <p:nvSpPr>
          <p:cNvPr id="15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0E752B75-6ABB-4986-8C70-BAADF6BE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819400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325" b="1">
                <a:solidFill>
                  <a:srgbClr val="B8BCC4"/>
                </a:solidFill>
              </a:defRPr>
            </a:pPr>
            <a:r>
              <a:rPr sz="2325" b="1">
                <a:solidFill>
                  <a:srgbClr val="B8BCC4"/>
                </a:solidFill>
              </a:rPr>
              <a:t>&gt;</a:t>
            </a:r>
          </a:p>
        </p:txBody>
      </p:sp>
      <p:sp>
        <p:nvSpPr>
          <p:cNvPr id="16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A2ADBA8E-1D35-44E9-AAE9-E9214ECC6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19400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325" b="1">
                <a:solidFill>
                  <a:srgbClr val="B8BCC4"/>
                </a:solidFill>
              </a:defRPr>
            </a:pPr>
            <a:r>
              <a:rPr sz="2325" b="1">
                <a:solidFill>
                  <a:srgbClr val="B8BCC4"/>
                </a:solidFill>
              </a:rPr>
              <a:t>&gt;</a:t>
            </a:r>
          </a:p>
        </p:txBody>
      </p:sp>
      <p:sp>
        <p:nvSpPr>
          <p:cNvPr id="17" name="rps-panel">
            <a:extLst xmlns:a="http://schemas.openxmlformats.org/drawingml/2006/main">
              <a:ext uri="{FF2B5EF4-FFF2-40B4-BE49-F238E27FC236}">
                <a16:creationId xmlns:a16="http://schemas.microsoft.com/office/drawing/2014/main" id="{FED2F7F4-E6BF-4243-B86D-5A654E2C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885950"/>
            <a:ext cx="1809750" cy="23812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ps-title">
            <a:extLst xmlns:a="http://schemas.openxmlformats.org/drawingml/2006/main">
              <a:ext uri="{FF2B5EF4-FFF2-40B4-BE49-F238E27FC236}">
                <a16:creationId xmlns:a16="http://schemas.microsoft.com/office/drawing/2014/main" id="{E8A6CC36-F709-45F0-A2CF-65E844204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181225"/>
            <a:ext cx="133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3375" b="1">
                <a:solidFill>
                  <a:srgbClr val="000000"/>
                </a:solidFill>
              </a:defRPr>
            </a:pPr>
            <a:r>
              <a:rPr sz="3375" b="1">
                <a:solidFill>
                  <a:srgbClr val="000000"/>
                </a:solidFill>
              </a:rPr>
              <a:t>RPS</a:t>
            </a:r>
          </a:p>
        </p:txBody>
      </p:sp>
      <p:sp>
        <p:nvSpPr>
          <p:cNvPr id="19" name="rps-note">
            <a:extLst xmlns:a="http://schemas.openxmlformats.org/drawingml/2006/main">
              <a:ext uri="{FF2B5EF4-FFF2-40B4-BE49-F238E27FC236}">
                <a16:creationId xmlns:a16="http://schemas.microsoft.com/office/drawing/2014/main" id="{4FF2BCC6-3C02-4722-887F-DADF36F66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876550"/>
            <a:ext cx="1333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5F6368"/>
                </a:solidFill>
              </a:defRPr>
            </a:pPr>
            <a:r>
              <a:rPr sz="1725" b="1">
                <a:solidFill>
                  <a:srgbClr val="5F6368"/>
                </a:solidFill>
              </a:rPr>
              <a:t>lower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5F6368"/>
                </a:solidFill>
              </a:defRPr>
            </a:pPr>
            <a:r>
              <a:rPr sz="1725" b="1">
                <a:solidFill>
                  <a:srgbClr val="5F6368"/>
                </a:solidFill>
              </a:rPr>
              <a:t>is better</a:t>
            </a:r>
          </a:p>
        </p:txBody>
      </p:sp>
      <p:sp>
        <p:nvSpPr>
          <p:cNvPr id="20" name="rps-small">
            <a:extLst xmlns:a="http://schemas.openxmlformats.org/drawingml/2006/main">
              <a:ext uri="{FF2B5EF4-FFF2-40B4-BE49-F238E27FC236}">
                <a16:creationId xmlns:a16="http://schemas.microsoft.com/office/drawing/2014/main" id="{A083F4CE-A49E-4686-9C00-C0BF23CAD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3638550"/>
            <a:ext cx="1381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>
                <a:solidFill>
                  <a:srgbClr val="5F6368"/>
                </a:solidFill>
              </a:defRPr>
            </a:pPr>
            <a:r>
              <a:rPr sz="1125">
                <a:solidFill>
                  <a:srgbClr val="5F6368"/>
                </a:solidFill>
              </a:rPr>
              <a:t>gleiche Spiele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125">
                <a:solidFill>
                  <a:srgbClr val="5F6368"/>
                </a:solidFill>
              </a:defRPr>
            </a:pPr>
            <a:r>
              <a:rPr sz="1125">
                <a:solidFill>
                  <a:srgbClr val="5F6368"/>
                </a:solidFill>
              </a:rPr>
              <a:t>fuer Modell,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125">
                <a:solidFill>
                  <a:srgbClr val="5F6368"/>
                </a:solidFill>
              </a:defRPr>
            </a:pPr>
            <a:r>
              <a:rPr sz="1125">
                <a:solidFill>
                  <a:srgbClr val="5F6368"/>
                </a:solidFill>
              </a:rPr>
              <a:t>Paper und Odds</a:t>
            </a:r>
          </a:p>
        </p:txBody>
      </p:sp>
      <p:sp>
        <p:nvSpPr>
          <p:cNvPr id="21" name="main-claim">
            <a:extLst xmlns:a="http://schemas.openxmlformats.org/drawingml/2006/main">
              <a:ext uri="{FF2B5EF4-FFF2-40B4-BE49-F238E27FC236}">
                <a16:creationId xmlns:a16="http://schemas.microsoft.com/office/drawing/2014/main" id="{AEBAA941-A2CC-4ACD-ABF0-CDEC3548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Der Vorhersagezustand am Spieltag d ist p(strength_d | games &lt; d), nicht p(strength_d | ganze Saison).</a:t>
            </a:r>
          </a:p>
        </p:txBody>
      </p:sp>
      <p:sp>
        <p:nvSpPr>
          <p:cNvPr id="22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1D9B4A72-FF5F-4011-972E-E1BB55EB1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38">
                <a:solidFill>
                  <a:srgbClr val="5F6368"/>
                </a:solidFill>
              </a:defRPr>
            </a:pPr>
            <a:r>
              <a:rPr sz="938">
                <a:solidFill>
                  <a:srgbClr val="5F6368"/>
                </a:solidFill>
              </a:rPr>
              <a:t>Code: v2/backtest.py: walkforward_predictions, evaluate_season_walkforward</a:t>
            </a:r>
          </a:p>
        </p:txBody>
      </p:sp>
      <p:sp>
        <p:nvSpPr>
          <p:cNvPr id="23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A61837A3-4749-41E1-884A-5E877276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3436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38">
                <a:solidFill>
                  <a:srgbClr val="5F6368"/>
                </a:solidFill>
              </a:defRPr>
            </a:pPr>
            <a:r>
              <a:rPr sz="938">
                <a:solidFill>
                  <a:srgbClr val="5F6368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222017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7152C82A-43E0-4079-B250-0DC4F15B7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Modell-Upgrade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D2BD3C6-2947-4787-9A16-0803151C0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25" b="1">
                <a:solidFill>
                  <a:srgbClr val="000000"/>
                </a:solidFill>
              </a:defRPr>
            </a:pPr>
            <a:r>
              <a:rPr sz="3225" b="1">
                <a:solidFill>
                  <a:srgbClr val="000000"/>
                </a:solidFill>
              </a:rPr>
              <a:t>xG wird zur Beobachtung von lambda</a:t>
            </a:r>
          </a:p>
        </p:txBody>
      </p:sp>
      <p:sp>
        <p:nvSpPr>
          <p:cNvPr id="3" name="equation-panel">
            <a:extLst xmlns:a="http://schemas.openxmlformats.org/drawingml/2006/main">
              <a:ext uri="{FF2B5EF4-FFF2-40B4-BE49-F238E27FC236}">
                <a16:creationId xmlns:a16="http://schemas.microsoft.com/office/drawing/2014/main" id="{6C64E892-2A45-42E3-961C-9B675C60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71625"/>
            <a:ext cx="5095875" cy="3667125"/>
          </a:xfrm>
          <a:prstGeom xmlns:a="http://schemas.openxmlformats.org/drawingml/2006/main" prst="roundRect">
            <a:avLst>
              <a:gd name="adj" fmla="val 1558"/>
            </a:avLst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per-fit-title">
            <a:extLst xmlns:a="http://schemas.openxmlformats.org/drawingml/2006/main">
              <a:ext uri="{FF2B5EF4-FFF2-40B4-BE49-F238E27FC236}">
                <a16:creationId xmlns:a16="http://schemas.microsoft.com/office/drawing/2014/main" id="{E4882304-E36E-4EDE-9D69-81115495F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Paper-Fit</a:t>
            </a:r>
          </a:p>
        </p:txBody>
      </p:sp>
      <p:sp>
        <p:nvSpPr>
          <p:cNvPr id="5" name="paper-fit-body">
            <a:extLst xmlns:a="http://schemas.openxmlformats.org/drawingml/2006/main">
              <a:ext uri="{FF2B5EF4-FFF2-40B4-BE49-F238E27FC236}">
                <a16:creationId xmlns:a16="http://schemas.microsoft.com/office/drawing/2014/main" id="{373DF07C-E87C-4D1E-B254-CB21D9C4C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4381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650">
                <a:solidFill>
                  <a:srgbClr val="222222"/>
                </a:solidFill>
              </a:defRPr>
            </a:pPr>
            <a:r>
              <a:rPr sz="1650">
                <a:solidFill>
                  <a:srgbClr val="222222"/>
                </a:solidFill>
              </a:rPr>
              <a:t>Goals x,y ~ Poisson(lambda)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650">
                <a:solidFill>
                  <a:srgbClr val="222222"/>
                </a:solidFill>
              </a:defRPr>
            </a:pPr>
            <a:r>
              <a:rPr sz="1650">
                <a:solidFill>
                  <a:srgbClr val="222222"/>
                </a:solidFill>
              </a:rPr>
              <a:t>+ Dixon-Coles correction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650">
                <a:solidFill>
                  <a:srgbClr val="222222"/>
                </a:solidFill>
              </a:defRPr>
            </a:pPr>
            <a:r>
              <a:rPr sz="1650">
                <a:solidFill>
                  <a:srgbClr val="222222"/>
                </a:solidFill>
              </a:rPr>
              <a:t>+ epsilon mixture for outliers</a:t>
            </a:r>
          </a:p>
        </p:txBody>
      </p:sp>
      <p:sp>
        <p:nvSpPr>
          <p:cNvPr id="6" name="v2-fit-title">
            <a:extLst xmlns:a="http://schemas.openxmlformats.org/drawingml/2006/main">
              <a:ext uri="{FF2B5EF4-FFF2-40B4-BE49-F238E27FC236}">
                <a16:creationId xmlns:a16="http://schemas.microsoft.com/office/drawing/2014/main" id="{4171D9D2-4797-429B-80D5-B0F0D7767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385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v2-Fit</a:t>
            </a:r>
          </a:p>
        </p:txBody>
      </p:sp>
      <p:sp>
        <p:nvSpPr>
          <p:cNvPr id="7" name="v2-fit-body">
            <a:extLst xmlns:a="http://schemas.openxmlformats.org/drawingml/2006/main">
              <a:ext uri="{FF2B5EF4-FFF2-40B4-BE49-F238E27FC236}">
                <a16:creationId xmlns:a16="http://schemas.microsoft.com/office/drawing/2014/main" id="{5E243998-9E89-47E2-ACCB-F217FE02A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4381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650">
                <a:solidFill>
                  <a:srgbClr val="222222"/>
                </a:solidFill>
              </a:defRPr>
            </a:pPr>
            <a:r>
              <a:rPr sz="1650">
                <a:solidFill>
                  <a:srgbClr val="222222"/>
                </a:solidFill>
              </a:rPr>
              <a:t>xG ~ Gamma(shape=phi, rate=phi/lambda)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650">
                <a:solidFill>
                  <a:srgbClr val="222222"/>
                </a:solidFill>
              </a:defRPr>
            </a:pPr>
            <a:r>
              <a:rPr sz="1650">
                <a:solidFill>
                  <a:srgbClr val="222222"/>
                </a:solidFill>
              </a:rPr>
              <a:t>E[xG]=lambda, Var[xG]=lambda^2/phi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650">
                <a:solidFill>
                  <a:srgbClr val="222222"/>
                </a:solidFill>
              </a:defRPr>
            </a:pPr>
            <a:r>
              <a:rPr sz="1650">
                <a:solidFill>
                  <a:srgbClr val="222222"/>
                </a:solidFill>
              </a:rPr>
              <a:t>Prediction remains a discrete goal grid</a:t>
            </a:r>
          </a:p>
        </p:txBody>
      </p:sp>
      <p:sp>
        <p:nvSpPr>
          <p:cNvPr id="8" name="why-title">
            <a:extLst xmlns:a="http://schemas.openxmlformats.org/drawingml/2006/main">
              <a:ext uri="{FF2B5EF4-FFF2-40B4-BE49-F238E27FC236}">
                <a16:creationId xmlns:a16="http://schemas.microsoft.com/office/drawing/2014/main" id="{BD92893D-A6D0-4629-B058-0EB1F1C92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58115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325" b="1">
                <a:solidFill>
                  <a:srgbClr val="000000"/>
                </a:solidFill>
              </a:defRPr>
            </a:pPr>
            <a:r>
              <a:rPr sz="2325" b="1">
                <a:solidFill>
                  <a:srgbClr val="000000"/>
                </a:solidFill>
              </a:rPr>
              <a:t>Warum?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6242DE-59A4-4232-A8F9-0F73B2B13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181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eason">
            <a:extLst xmlns:a="http://schemas.openxmlformats.org/drawingml/2006/main">
              <a:ext uri="{FF2B5EF4-FFF2-40B4-BE49-F238E27FC236}">
                <a16:creationId xmlns:a16="http://schemas.microsoft.com/office/drawing/2014/main" id="{A927B746-118D-4194-A3A2-6B2D396CB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43125"/>
            <a:ext cx="481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575">
                <a:solidFill>
                  <a:srgbClr val="222222"/>
                </a:solidFill>
              </a:defRPr>
            </a:pPr>
            <a:r>
              <a:rPr sz="1575">
                <a:solidFill>
                  <a:srgbClr val="222222"/>
                </a:solidFill>
              </a:rPr>
              <a:t>Tore sind verrauscht: Effizienz und Zufall dominieren einzelne Spiele.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41678C-BB73-4F51-9E11-1485288E3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067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eason">
            <a:extLst xmlns:a="http://schemas.openxmlformats.org/drawingml/2006/main">
              <a:ext uri="{FF2B5EF4-FFF2-40B4-BE49-F238E27FC236}">
                <a16:creationId xmlns:a16="http://schemas.microsoft.com/office/drawing/2014/main" id="{E38961AC-9A3E-4E62-AB4C-32295FC1B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28950"/>
            <a:ext cx="481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575">
                <a:solidFill>
                  <a:srgbClr val="222222"/>
                </a:solidFill>
              </a:defRPr>
            </a:pPr>
            <a:r>
              <a:rPr sz="1575">
                <a:solidFill>
                  <a:srgbClr val="222222"/>
                </a:solidFill>
              </a:rPr>
              <a:t>xG misst Chancenqualität direkter und aktualisiert Teamstärken stabiler.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E49E36-440C-4AEC-8AA2-51D8EEBDC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9528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0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eason">
            <a:extLst xmlns:a="http://schemas.openxmlformats.org/drawingml/2006/main">
              <a:ext uri="{FF2B5EF4-FFF2-40B4-BE49-F238E27FC236}">
                <a16:creationId xmlns:a16="http://schemas.microsoft.com/office/drawing/2014/main" id="{4138FABE-1EA6-45A7-987A-2D03938F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14775"/>
            <a:ext cx="481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575">
                <a:solidFill>
                  <a:srgbClr val="222222"/>
                </a:solidFill>
              </a:defRPr>
            </a:pPr>
            <a:r>
              <a:rPr sz="1575">
                <a:solidFill>
                  <a:srgbClr val="222222"/>
                </a:solidFill>
              </a:rPr>
              <a:t>phi steuert Vertrauen in xG; zu hoch überfittet grobe Proxy-xG.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C0A79C-3BF7-4B2A-8C84-82D4B1F04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8387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65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eason">
            <a:extLst xmlns:a="http://schemas.openxmlformats.org/drawingml/2006/main">
              <a:ext uri="{FF2B5EF4-FFF2-40B4-BE49-F238E27FC236}">
                <a16:creationId xmlns:a16="http://schemas.microsoft.com/office/drawing/2014/main" id="{8CD6846E-356A-4692-BFA5-8A984A5AD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00600"/>
            <a:ext cx="481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575">
                <a:solidFill>
                  <a:srgbClr val="222222"/>
                </a:solidFill>
              </a:defRPr>
            </a:pPr>
            <a:r>
              <a:rPr sz="1575">
                <a:solidFill>
                  <a:srgbClr val="222222"/>
                </a:solidFill>
              </a:rPr>
              <a:t>Echtes Understat-xG ersetzt den Proxy ab 2014/15.</a:t>
            </a:r>
          </a:p>
        </p:txBody>
      </p:sp>
      <p:sp>
        <p:nvSpPr>
          <p:cNvPr id="17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55033E89-5EBD-4399-B59B-CB1726723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38">
                <a:solidFill>
                  <a:srgbClr val="5F6368"/>
                </a:solidFill>
              </a:defRPr>
            </a:pPr>
            <a:r>
              <a:rPr sz="938">
                <a:solidFill>
                  <a:srgbClr val="5F6368"/>
                </a:solidFill>
              </a:rPr>
              <a:t>Code: model.build_league(...continuous_xg=True), mcmc._gamma_loglik_lam, real_xg.py</a:t>
            </a:r>
          </a:p>
        </p:txBody>
      </p:sp>
      <p:sp>
        <p:nvSpPr>
          <p:cNvPr id="18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9E6AEB19-E61A-48FF-ABEA-BD5A967E5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3436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38">
                <a:solidFill>
                  <a:srgbClr val="5F6368"/>
                </a:solidFill>
              </a:defRPr>
            </a:pPr>
            <a:r>
              <a:rPr sz="938">
                <a:solidFill>
                  <a:srgbClr val="5F6368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431275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8D3EB871-2702-4592-8270-69148445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Resultat 1 - pooled 2016/17 bis 2025/26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02DB2B8-2210-458B-BEFB-2291D6351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25" b="1">
                <a:solidFill>
                  <a:srgbClr val="000000"/>
                </a:solidFill>
              </a:defRPr>
            </a:pPr>
            <a:r>
              <a:rPr sz="3225" b="1">
                <a:solidFill>
                  <a:srgbClr val="000000"/>
                </a:solidFill>
              </a:rPr>
              <a:t>v2 verbessert das Paper-Modell klar</a:t>
            </a:r>
          </a:p>
        </p:txBody>
      </p:sp>
      <p:sp>
        <p:nvSpPr>
          <p:cNvPr id="3" name="chart-panel">
            <a:extLst xmlns:a="http://schemas.openxmlformats.org/drawingml/2006/main">
              <a:ext uri="{FF2B5EF4-FFF2-40B4-BE49-F238E27FC236}">
                <a16:creationId xmlns:a16="http://schemas.microsoft.com/office/drawing/2014/main" id="{50A04E34-DEAF-401E-820C-9BA05DB50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6191250" cy="4400550"/>
          </a:xfrm>
          <a:prstGeom xmlns:a="http://schemas.openxmlformats.org/drawingml/2006/main" prst="roundRect">
            <a:avLst>
              <a:gd name="adj" fmla="val 1299"/>
            </a:avLst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876300" y="1885950"/>
          <a:ext xmlns:a="http://schemas.openxmlformats.org/drawingml/2006/main" cx="55435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aa0cddb205b45f1"/>
          </a:graphicData>
        </a:graphic>
      </p:graphicFrame>
      <p:sp>
        <p:nvSpPr>
          <p:cNvPr id="5" name="chart-caption">
            <a:extLst xmlns:a="http://schemas.openxmlformats.org/drawingml/2006/main">
              <a:ext uri="{FF2B5EF4-FFF2-40B4-BE49-F238E27FC236}">
                <a16:creationId xmlns:a16="http://schemas.microsoft.com/office/drawing/2014/main" id="{453C77C1-FD31-482B-8438-710A0A9AA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353050"/>
            <a:ext cx="514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>
                <a:solidFill>
                  <a:srgbClr val="5F6368"/>
                </a:solidFill>
              </a:defRPr>
            </a:pPr>
            <a:r>
              <a:rPr sz="1125">
                <a:solidFill>
                  <a:srgbClr val="5F6368"/>
                </a:solidFill>
              </a:rPr>
              <a:t>Mean RPS auf gemeinsamen Holdout-Spielen - lower is better</a:t>
            </a:r>
          </a:p>
        </p:txBody>
      </p:sp>
      <p:sp>
        <p:nvSpPr>
          <p:cNvPr id="6" name="metric-panel">
            <a:extLst xmlns:a="http://schemas.openxmlformats.org/drawingml/2006/main">
              <a:ext uri="{FF2B5EF4-FFF2-40B4-BE49-F238E27FC236}">
                <a16:creationId xmlns:a16="http://schemas.microsoft.com/office/drawing/2014/main" id="{ADDF0F70-13ED-4E73-AE98-8DD0EDD51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00200"/>
            <a:ext cx="200025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902075CC-DAF3-4E50-9DD3-F52299FA8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828800"/>
            <a:ext cx="1581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925</a:t>
            </a:r>
          </a:p>
        </p:txBody>
      </p:sp>
      <p:sp>
        <p:nvSpPr>
          <p:cNvPr id="8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8EF46587-39BB-42C9-B749-35A1B9A9B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571750"/>
            <a:ext cx="1543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>
                <a:solidFill>
                  <a:srgbClr val="222222"/>
                </a:solidFill>
              </a:defRPr>
            </a:pPr>
            <a:r>
              <a:rPr sz="1350">
                <a:solidFill>
                  <a:srgbClr val="222222"/>
                </a:solidFill>
              </a:rPr>
              <a:t>Holdout-Spiele</a:t>
            </a:r>
          </a:p>
        </p:txBody>
      </p:sp>
      <p:sp>
        <p:nvSpPr>
          <p:cNvPr id="9" name="metric-panel">
            <a:extLst xmlns:a="http://schemas.openxmlformats.org/drawingml/2006/main">
              <a:ext uri="{FF2B5EF4-FFF2-40B4-BE49-F238E27FC236}">
                <a16:creationId xmlns:a16="http://schemas.microsoft.com/office/drawing/2014/main" id="{23C5D9A8-DAA0-48FF-B95D-9A2F8BDBF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600200"/>
            <a:ext cx="200025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FDD70F68-0DEC-4198-871D-29EAC545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828800"/>
            <a:ext cx="1581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50" b="1">
                <a:solidFill>
                  <a:srgbClr val="35A042"/>
                </a:solidFill>
              </a:defRPr>
            </a:pPr>
            <a:r>
              <a:rPr sz="3450" b="1">
                <a:solidFill>
                  <a:srgbClr val="35A042"/>
                </a:solidFill>
              </a:rPr>
              <a:t>+3.7%</a:t>
            </a:r>
          </a:p>
        </p:txBody>
      </p:sp>
      <p:sp>
        <p:nvSpPr>
          <p:cNvPr id="11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C18E4EE4-E0CD-4A76-BF7E-708FE067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571750"/>
            <a:ext cx="1543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>
                <a:solidFill>
                  <a:srgbClr val="222222"/>
                </a:solidFill>
              </a:defRPr>
            </a:pPr>
            <a:r>
              <a:rPr sz="1350">
                <a:solidFill>
                  <a:srgbClr val="222222"/>
                </a:solidFill>
              </a:rPr>
              <a:t>rel. besser als Paper</a:t>
            </a:r>
          </a:p>
        </p:txBody>
      </p:sp>
      <p:sp>
        <p:nvSpPr>
          <p:cNvPr id="12" name="metric-panel">
            <a:extLst xmlns:a="http://schemas.openxmlformats.org/drawingml/2006/main">
              <a:ext uri="{FF2B5EF4-FFF2-40B4-BE49-F238E27FC236}">
                <a16:creationId xmlns:a16="http://schemas.microsoft.com/office/drawing/2014/main" id="{29DE9E20-A6A2-4F38-BF9B-64E84CECA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38550"/>
            <a:ext cx="200025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915BD2E0-6575-4A1F-9CA8-0BAA1DD91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867150"/>
            <a:ext cx="1581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25" b="1">
                <a:solidFill>
                  <a:srgbClr val="35A042"/>
                </a:solidFill>
              </a:defRPr>
            </a:pPr>
            <a:r>
              <a:rPr sz="2625" b="1">
                <a:solidFill>
                  <a:srgbClr val="35A042"/>
                </a:solidFill>
              </a:rPr>
              <a:t>+0.0078</a:t>
            </a:r>
          </a:p>
        </p:txBody>
      </p:sp>
      <p:sp>
        <p:nvSpPr>
          <p:cNvPr id="14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01023457-00DA-4A58-BB36-19909550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610100"/>
            <a:ext cx="1543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>
                <a:solidFill>
                  <a:srgbClr val="222222"/>
                </a:solidFill>
              </a:defRPr>
            </a:pPr>
            <a:r>
              <a:rPr sz="1350">
                <a:solidFill>
                  <a:srgbClr val="222222"/>
                </a:solidFill>
              </a:rPr>
              <a:t>Delta RPS: Paper - v2</a:t>
            </a:r>
          </a:p>
        </p:txBody>
      </p:sp>
      <p:sp>
        <p:nvSpPr>
          <p:cNvPr id="15" name="metric-panel">
            <a:extLst xmlns:a="http://schemas.openxmlformats.org/drawingml/2006/main">
              <a:ext uri="{FF2B5EF4-FFF2-40B4-BE49-F238E27FC236}">
                <a16:creationId xmlns:a16="http://schemas.microsoft.com/office/drawing/2014/main" id="{0E657C04-141F-4475-9BA2-B992287D0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38550"/>
            <a:ext cx="200025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9B48A707-4647-4A79-A41B-1AA2B7B90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867150"/>
            <a:ext cx="1581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25" b="1">
                <a:solidFill>
                  <a:srgbClr val="35A042"/>
                </a:solidFill>
              </a:defRPr>
            </a:pPr>
            <a:r>
              <a:rPr sz="2625" b="1">
                <a:solidFill>
                  <a:srgbClr val="35A042"/>
                </a:solidFill>
              </a:rPr>
              <a:t>p&lt;0.001</a:t>
            </a:r>
          </a:p>
        </p:txBody>
      </p:sp>
      <p:sp>
        <p:nvSpPr>
          <p:cNvPr id="17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F5AB2DE6-B972-43C6-96FD-9BDBB09C8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610100"/>
            <a:ext cx="1543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>
                <a:solidFill>
                  <a:srgbClr val="222222"/>
                </a:solidFill>
              </a:defRPr>
            </a:pPr>
            <a:r>
              <a:rPr sz="1350">
                <a:solidFill>
                  <a:srgbClr val="222222"/>
                </a:solidFill>
              </a:rPr>
              <a:t>Wilcoxon paired</a:t>
            </a:r>
          </a:p>
        </p:txBody>
      </p:sp>
      <p:sp>
        <p:nvSpPr>
          <p:cNvPr id="18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4FE2F47A-792A-45D3-B680-D2527A9DE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38">
                <a:solidFill>
                  <a:srgbClr val="5F6368"/>
                </a:solidFill>
              </a:defRPr>
            </a:pPr>
            <a:r>
              <a:rPr sz="938">
                <a:solidFill>
                  <a:srgbClr val="5F6368"/>
                </a:solidFill>
              </a:rPr>
              <a:t>Daten: v2/output/multiseason_20260625_200345/multiseason_summary.csv</a:t>
            </a:r>
          </a:p>
        </p:txBody>
      </p:sp>
      <p:sp>
        <p:nvSpPr>
          <p:cNvPr id="19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4485EE17-2EC2-4A0D-A8AA-6EBFE9281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3436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38">
                <a:solidFill>
                  <a:srgbClr val="5F6368"/>
                </a:solidFill>
              </a:defRPr>
            </a:pPr>
            <a:r>
              <a:rPr sz="938">
                <a:solidFill>
                  <a:srgbClr val="5F6368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343702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67ACFE88-2E8F-460B-A021-8F8755A36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Resultat 2 - Interpretation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438B8B0-386D-42B6-BDC1-33BBA6D8E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25" b="1">
                <a:solidFill>
                  <a:srgbClr val="000000"/>
                </a:solidFill>
              </a:defRPr>
            </a:pPr>
            <a:r>
              <a:rPr sz="3225" b="1">
                <a:solidFill>
                  <a:srgbClr val="000000"/>
                </a:solidFill>
              </a:rPr>
              <a:t>Buchmacher bleiben der harte Benchmark</a:t>
            </a:r>
          </a:p>
        </p:txBody>
      </p:sp>
      <p:sp>
        <p:nvSpPr>
          <p:cNvPr id="3" name="effect-panel">
            <a:extLst xmlns:a="http://schemas.openxmlformats.org/drawingml/2006/main">
              <a:ext uri="{FF2B5EF4-FFF2-40B4-BE49-F238E27FC236}">
                <a16:creationId xmlns:a16="http://schemas.microsoft.com/office/drawing/2014/main" id="{28FA2CF3-0CDF-4DA6-B86E-D3337F090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3429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022766-39B2-4DE6-9FCC-0BFFCAE70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90950"/>
            <a:ext cx="8810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A0D6DB-D351-421C-982C-F34FB8E0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962150"/>
            <a:ext cx="28575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5A14BE-1B56-4EDA-8752-C330034FB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43325"/>
            <a:ext cx="952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xis-tick">
            <a:extLst xmlns:a="http://schemas.openxmlformats.org/drawingml/2006/main">
              <a:ext uri="{FF2B5EF4-FFF2-40B4-BE49-F238E27FC236}">
                <a16:creationId xmlns:a16="http://schemas.microsoft.com/office/drawing/2014/main" id="{3C99846C-54FC-4C52-B2AD-A996D3DB0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243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38">
                <a:solidFill>
                  <a:srgbClr val="5F6368"/>
                </a:solidFill>
              </a:defRPr>
            </a:pPr>
            <a:r>
              <a:rPr sz="938">
                <a:solidFill>
                  <a:srgbClr val="5F6368"/>
                </a:solidFill>
              </a:rPr>
              <a:t>-.010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8D2398-B3DB-48DA-8A4B-883434AD1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743325"/>
            <a:ext cx="952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xis-tick">
            <a:extLst xmlns:a="http://schemas.openxmlformats.org/drawingml/2006/main">
              <a:ext uri="{FF2B5EF4-FFF2-40B4-BE49-F238E27FC236}">
                <a16:creationId xmlns:a16="http://schemas.microsoft.com/office/drawing/2014/main" id="{E7EA3387-35EA-41AD-8ED5-09459B06B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9243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38">
                <a:solidFill>
                  <a:srgbClr val="5F6368"/>
                </a:solidFill>
              </a:defRPr>
            </a:pPr>
            <a:r>
              <a:rPr sz="938">
                <a:solidFill>
                  <a:srgbClr val="5F6368"/>
                </a:solidFill>
              </a:rPr>
              <a:t>-.005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4DF4B0-E7E7-42FA-B960-11CCB5E91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743325"/>
            <a:ext cx="952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xis-tick">
            <a:extLst xmlns:a="http://schemas.openxmlformats.org/drawingml/2006/main">
              <a:ext uri="{FF2B5EF4-FFF2-40B4-BE49-F238E27FC236}">
                <a16:creationId xmlns:a16="http://schemas.microsoft.com/office/drawing/2014/main" id="{ABEB8FFD-0B00-4110-BD24-DAFBCDE0B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9243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38">
                <a:solidFill>
                  <a:srgbClr val="5F6368"/>
                </a:solidFill>
              </a:defRPr>
            </a:pPr>
            <a:r>
              <a:rPr sz="938">
                <a:solidFill>
                  <a:srgbClr val="5F6368"/>
                </a:solidFill>
              </a:rPr>
              <a:t>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88A4D0-30D2-4BE8-B82D-7CB343569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743325"/>
            <a:ext cx="952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axis-tick">
            <a:extLst xmlns:a="http://schemas.openxmlformats.org/drawingml/2006/main">
              <a:ext uri="{FF2B5EF4-FFF2-40B4-BE49-F238E27FC236}">
                <a16:creationId xmlns:a16="http://schemas.microsoft.com/office/drawing/2014/main" id="{1FBEFB3A-BFD9-49E4-BDFB-A809024DF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9243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38">
                <a:solidFill>
                  <a:srgbClr val="5F6368"/>
                </a:solidFill>
              </a:defRPr>
            </a:pPr>
            <a:r>
              <a:rPr sz="938">
                <a:solidFill>
                  <a:srgbClr val="5F6368"/>
                </a:solidFill>
              </a:rPr>
              <a:t>.005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AE026B-9258-49FC-A3CC-F954F66C3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43325"/>
            <a:ext cx="952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xis-tick">
            <a:extLst xmlns:a="http://schemas.openxmlformats.org/drawingml/2006/main">
              <a:ext uri="{FF2B5EF4-FFF2-40B4-BE49-F238E27FC236}">
                <a16:creationId xmlns:a16="http://schemas.microsoft.com/office/drawing/2014/main" id="{8A64AE25-289B-42DB-9046-55674C011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9243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38">
                <a:solidFill>
                  <a:srgbClr val="5F6368"/>
                </a:solidFill>
              </a:defRPr>
            </a:pPr>
            <a:r>
              <a:rPr sz="938">
                <a:solidFill>
                  <a:srgbClr val="5F6368"/>
                </a:solidFill>
              </a:rPr>
              <a:t>.010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1D0F89-6575-455F-AFA6-6404D2EF3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3743325"/>
            <a:ext cx="952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xis-tick">
            <a:extLst xmlns:a="http://schemas.openxmlformats.org/drawingml/2006/main">
              <a:ext uri="{FF2B5EF4-FFF2-40B4-BE49-F238E27FC236}">
                <a16:creationId xmlns:a16="http://schemas.microsoft.com/office/drawing/2014/main" id="{22AFDD23-C60E-48B0-9B35-77895CC52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39243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38">
                <a:solidFill>
                  <a:srgbClr val="5F6368"/>
                </a:solidFill>
              </a:defRPr>
            </a:pPr>
            <a:r>
              <a:rPr sz="938">
                <a:solidFill>
                  <a:srgbClr val="5F6368"/>
                </a:solidFill>
              </a:rPr>
              <a:t>.015</a:t>
            </a:r>
          </a:p>
        </p:txBody>
      </p:sp>
      <p:sp>
        <p:nvSpPr>
          <p:cNvPr id="18" name="ci-label">
            <a:extLst xmlns:a="http://schemas.openxmlformats.org/drawingml/2006/main">
              <a:ext uri="{FF2B5EF4-FFF2-40B4-BE49-F238E27FC236}">
                <a16:creationId xmlns:a16="http://schemas.microsoft.com/office/drawing/2014/main" id="{D512330F-0F6A-417E-8C43-258096A9A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336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v2 vs Buchmacher</a:t>
            </a:r>
          </a:p>
        </p:txBody>
      </p:sp>
      <p:sp>
        <p:nvSpPr>
          <p:cNvPr id="19" name="ci-detail">
            <a:extLst xmlns:a="http://schemas.openxmlformats.org/drawingml/2006/main">
              <a:ext uri="{FF2B5EF4-FFF2-40B4-BE49-F238E27FC236}">
                <a16:creationId xmlns:a16="http://schemas.microsoft.com/office/drawing/2014/main" id="{8FE6983D-0B72-4B7D-9EBF-E1418E607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125">
                <a:solidFill>
                  <a:srgbClr val="5F6368"/>
                </a:solidFill>
              </a:defRPr>
            </a:pPr>
            <a:r>
              <a:rPr sz="1125">
                <a:solidFill>
                  <a:srgbClr val="5F6368"/>
                </a:solidFill>
              </a:rPr>
              <a:t>mean -0.0036, 95%-CI [-0.0075, +0.0004]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07ECCD-1AA2-49AD-A05D-3E252D19C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4889" y="2362200"/>
            <a:ext cx="2774251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2C264B-4E0A-414B-8D8F-A558459ED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5839" y="2238375"/>
            <a:ext cx="381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8F53E1-86B5-43B0-8B16-C34D8ECE1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090" y="2238375"/>
            <a:ext cx="381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5A62CD-3AAA-4A7D-99B1-6594AD405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3401" y="2276475"/>
            <a:ext cx="190500" cy="1905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4" name="ci-label">
            <a:extLst xmlns:a="http://schemas.openxmlformats.org/drawingml/2006/main">
              <a:ext uri="{FF2B5EF4-FFF2-40B4-BE49-F238E27FC236}">
                <a16:creationId xmlns:a16="http://schemas.microsoft.com/office/drawing/2014/main" id="{F6F5DFB5-C8AC-41A6-8334-8990DE5F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908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v2 vs Paper</a:t>
            </a:r>
          </a:p>
        </p:txBody>
      </p:sp>
      <p:sp>
        <p:nvSpPr>
          <p:cNvPr id="25" name="ci-detail">
            <a:extLst xmlns:a="http://schemas.openxmlformats.org/drawingml/2006/main">
              <a:ext uri="{FF2B5EF4-FFF2-40B4-BE49-F238E27FC236}">
                <a16:creationId xmlns:a16="http://schemas.microsoft.com/office/drawing/2014/main" id="{2572A4FB-203C-467C-B66D-D19C60B56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125">
                <a:solidFill>
                  <a:srgbClr val="5F6368"/>
                </a:solidFill>
              </a:defRPr>
            </a:pPr>
            <a:r>
              <a:rPr sz="1125">
                <a:solidFill>
                  <a:srgbClr val="5F6368"/>
                </a:solidFill>
              </a:rPr>
              <a:t>mean +0.0078, 95%-CI [+0.0033, +0.0122]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07FF66-A857-4CA9-AEC3-7C8B06310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1841" y="3219450"/>
            <a:ext cx="3111932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0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B7419C-94FE-4673-83F7-BA279754B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791" y="3095625"/>
            <a:ext cx="381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0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349A25-9935-4524-B91B-DBB450D54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4722" y="3095625"/>
            <a:ext cx="381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0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9417E2-73BC-44CD-9912-97B455D82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9678" y="3133725"/>
            <a:ext cx="190500" cy="1905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0" name="axis-caption">
            <a:extLst xmlns:a="http://schemas.openxmlformats.org/drawingml/2006/main">
              <a:ext uri="{FF2B5EF4-FFF2-40B4-BE49-F238E27FC236}">
                <a16:creationId xmlns:a16="http://schemas.microsoft.com/office/drawing/2014/main" id="{DE50695F-4259-4CF6-B176-7C02BB656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4340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>
                <a:solidFill>
                  <a:srgbClr val="5F6368"/>
                </a:solidFill>
              </a:defRPr>
            </a:pPr>
            <a:r>
              <a:rPr sz="1200">
                <a:solidFill>
                  <a:srgbClr val="5F6368"/>
                </a:solidFill>
              </a:rPr>
              <a:t>Delta RPS, positiv = v2 besser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29EE52-9191-4392-9226-7D8B8434B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24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0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akeaway-title">
            <a:extLst xmlns:a="http://schemas.openxmlformats.org/drawingml/2006/main">
              <a:ext uri="{FF2B5EF4-FFF2-40B4-BE49-F238E27FC236}">
                <a16:creationId xmlns:a16="http://schemas.microsoft.com/office/drawing/2014/main" id="{87CFDA27-80D2-47B9-900C-B4E5757D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38725"/>
            <a:ext cx="3000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Paper geschlagen</a:t>
            </a:r>
          </a:p>
        </p:txBody>
      </p:sp>
      <p:sp>
        <p:nvSpPr>
          <p:cNvPr id="33" name="takeaway-body">
            <a:extLst xmlns:a="http://schemas.openxmlformats.org/drawingml/2006/main">
              <a:ext uri="{FF2B5EF4-FFF2-40B4-BE49-F238E27FC236}">
                <a16:creationId xmlns:a16="http://schemas.microsoft.com/office/drawing/2014/main" id="{C5D5335E-753C-4037-BBD6-0B598E805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19725"/>
            <a:ext cx="3000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>
                <a:solidFill>
                  <a:srgbClr val="222222"/>
                </a:solidFill>
              </a:defRPr>
            </a:pPr>
            <a:r>
              <a:rPr sz="1275">
                <a:solidFill>
                  <a:srgbClr val="222222"/>
                </a:solidFill>
              </a:rPr>
              <a:t>v2 ist im gepoolten Holdout signifikant besser als die Paper-Baseline.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5E0EAEC-4E53-42C6-AD7F-7A5064EC8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124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takeaway-title">
            <a:extLst xmlns:a="http://schemas.openxmlformats.org/drawingml/2006/main">
              <a:ext uri="{FF2B5EF4-FFF2-40B4-BE49-F238E27FC236}">
                <a16:creationId xmlns:a16="http://schemas.microsoft.com/office/drawing/2014/main" id="{1CE22241-2B5C-46EA-896F-FC6036F1F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038725"/>
            <a:ext cx="3000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Kein Odds-Edge</a:t>
            </a:r>
          </a:p>
        </p:txBody>
      </p:sp>
      <p:sp>
        <p:nvSpPr>
          <p:cNvPr id="36" name="takeaway-body">
            <a:extLst xmlns:a="http://schemas.openxmlformats.org/drawingml/2006/main">
              <a:ext uri="{FF2B5EF4-FFF2-40B4-BE49-F238E27FC236}">
                <a16:creationId xmlns:a16="http://schemas.microsoft.com/office/drawing/2014/main" id="{E404EBFF-BCD2-41A5-A153-AA0AA2AE7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419725"/>
            <a:ext cx="3000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>
                <a:solidFill>
                  <a:srgbClr val="222222"/>
                </a:solidFill>
              </a:defRPr>
            </a:pPr>
            <a:r>
              <a:rPr sz="1275">
                <a:solidFill>
                  <a:srgbClr val="222222"/>
                </a:solidFill>
              </a:rPr>
              <a:t>Bookmaker haben im Mittel 0.0036 RPS Vorteil; konservativ: kein belastbarer Markt-Vorsprung.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E0F53AB-49EC-4916-94C1-8D71D7857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124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takeaway-title">
            <a:extLst xmlns:a="http://schemas.openxmlformats.org/drawingml/2006/main">
              <a:ext uri="{FF2B5EF4-FFF2-40B4-BE49-F238E27FC236}">
                <a16:creationId xmlns:a16="http://schemas.microsoft.com/office/drawing/2014/main" id="{A97DD33E-73AB-4311-BFA8-49C5C7E69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038725"/>
            <a:ext cx="3000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Wissenschaftlich sauber</a:t>
            </a:r>
          </a:p>
        </p:txBody>
      </p:sp>
      <p:sp>
        <p:nvSpPr>
          <p:cNvPr id="39" name="takeaway-body">
            <a:extLst xmlns:a="http://schemas.openxmlformats.org/drawingml/2006/main">
              <a:ext uri="{FF2B5EF4-FFF2-40B4-BE49-F238E27FC236}">
                <a16:creationId xmlns:a16="http://schemas.microsoft.com/office/drawing/2014/main" id="{C2A7425A-5874-40D8-92A2-C9DC1E0A9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419725"/>
            <a:ext cx="3000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>
                <a:solidFill>
                  <a:srgbClr val="222222"/>
                </a:solidFill>
              </a:defRPr>
            </a:pPr>
            <a:r>
              <a:rPr sz="1275">
                <a:solidFill>
                  <a:srgbClr val="222222"/>
                </a:solidFill>
              </a:rPr>
              <a:t>Leak-freier Backtest plus CI ist wertvoller als ein zu starker Performance-Claim.</a:t>
            </a:r>
          </a:p>
        </p:txBody>
      </p:sp>
      <p:sp>
        <p:nvSpPr>
          <p:cNvPr id="40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0FD7F697-5935-45DB-B537-EBB909770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38">
                <a:solidFill>
                  <a:srgbClr val="5F6368"/>
                </a:solidFill>
              </a:defRPr>
            </a:pPr>
            <a:r>
              <a:rPr sz="938">
                <a:solidFill>
                  <a:srgbClr val="5F6368"/>
                </a:solidFill>
              </a:rPr>
              <a:t>Daten: multiseason_summary.csv und 16_multiseason_effect_ci.png</a:t>
            </a:r>
          </a:p>
        </p:txBody>
      </p:sp>
      <p:sp>
        <p:nvSpPr>
          <p:cNvPr id="41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1719580E-0A0F-4365-AC5D-77136D17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3436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38">
                <a:solidFill>
                  <a:srgbClr val="5F6368"/>
                </a:solidFill>
              </a:defRPr>
            </a:pPr>
            <a:r>
              <a:rPr sz="938">
                <a:solidFill>
                  <a:srgbClr val="5F6368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8385604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2026-06-28T11:33:11.8330000Z</dcterms:created>
  <dcterms:modified xsi:type="dcterms:W3CDTF">2026-06-28T11:33:11.8330000Z</dcterms:modified>
</coreProperties>
</file>